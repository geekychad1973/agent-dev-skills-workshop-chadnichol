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10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10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14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6010275"/>
            <a:ext cx="11277600" cy="3905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8900" y="523875"/>
            <a:ext cx="1485900" cy="247650"/>
          </a:xfrm>
          <a:prstGeom prst="roundRect">
            <a:avLst>
              <a:gd name="adj" fmla="val 50000"/>
            </a:avLst>
          </a:prstGeom>
          <a:solidFill>
            <a:srgbClr val="1E1B4B">
              <a:alpha val="80000"/>
            </a:srgbClr>
          </a:solidFill>
          <a:ln w="9525">
            <a:solidFill>
              <a:srgbClr val="6366F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06000" y="-762000"/>
            <a:ext cx="3048000" cy="3048000"/>
          </a:xfrm>
          <a:prstGeom prst="roundRect">
            <a:avLst/>
          </a:prstGeom>
          <a:solidFill>
            <a:srgbClr val="6366F1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762000" y="4572000"/>
            <a:ext cx="3048000" cy="3048000"/>
          </a:xfrm>
          <a:prstGeom prst="roundRect">
            <a:avLst/>
          </a:prstGeom>
          <a:solidFill>
            <a:srgbClr val="06B6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8900" y="523875"/>
            <a:ext cx="1485900" cy="247650"/>
          </a:xfrm>
          <a:prstGeom prst="roundRect">
            <a:avLst>
              <a:gd name="adj" fmla="val 50000"/>
            </a:avLst>
          </a:prstGeom>
          <a:solidFill>
            <a:srgbClr val="1E1B4B">
              <a:alpha val="80000"/>
            </a:srgbClr>
          </a:solidFill>
          <a:ln w="9525">
            <a:solidFill>
              <a:srgbClr val="6366F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0" y="561975"/>
            <a:ext cx="1257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5B4FC"/>
                </a:solidFill>
                <a:latin typeface="Inter"/>
              </a:rPr>
              <a:t>Google Cloud Vertex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77703"/>
            <a:ext cx="8961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600" b="1" i="0" u="none">
                <a:solidFill>
                  <a:srgbClr val="FFFFFF"/>
                </a:solidFill>
                <a:latin typeface="Inter"/>
              </a:rPr>
              <a:t>Multi-Agent Architecture &amp; </a:t>
            </a:r>
            <a:r>
              <a:t>
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3103"/>
            <a:ext cx="6400800" cy="8358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93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 complete systems blueprint detailing hierarchical orchestration, security guardrails, specialized sub-agents, sequential refinement workflows, and Vertex AI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9400" y="6248400"/>
            <a:ext cx="129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Production Architecture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2500" y="571500"/>
            <a:ext cx="262324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TECHNICAL ARCHITECTURE BLUEPRINT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225278"/>
            <a:ext cx="104775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2206228"/>
            <a:ext cx="1733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7E8F9"/>
                </a:solidFill>
                <a:latin typeface="Inter"/>
              </a:rPr>
              <a:t>ReadyNow! Case Study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49203"/>
            <a:ext cx="6000898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600" b="1" i="0" u="none">
                <a:solidFill>
                  <a:srgbClr val="22D3EE"/>
                </a:solidFill>
                <a:latin typeface="Inter"/>
              </a:rPr>
              <a:t>Agent Platform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6248400"/>
            <a:ext cx="10382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6-Tier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4075" y="6248400"/>
            <a:ext cx="11715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Zero-Trust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750" y="6248400"/>
            <a:ext cx="12192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Vertex AI Agent Engine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62" y="514350"/>
            <a:ext cx="21907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267450"/>
            <a:ext cx="13335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75" y="6267450"/>
            <a:ext cx="114300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626745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5410200"/>
            <a:ext cx="5219700" cy="400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5410200"/>
            <a:ext cx="5219700" cy="4000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25150" y="542925"/>
            <a:ext cx="1085850" cy="285750"/>
          </a:xfrm>
          <a:prstGeom prst="roundRect">
            <a:avLst>
              <a:gd name="adj" fmla="val 26666"/>
            </a:avLst>
          </a:prstGeom>
          <a:solidFill>
            <a:srgbClr val="06B6D4">
              <a:alpha val="20000"/>
            </a:srgbClr>
          </a:solidFill>
          <a:ln w="9525">
            <a:solidFill>
              <a:srgbClr val="06B6D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000" y="381000"/>
            <a:ext cx="6896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2D3EE"/>
                </a:solidFill>
                <a:latin typeface="Inter"/>
              </a:rPr>
              <a:t>Mission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25150" y="542925"/>
            <a:ext cx="1085850" cy="285750"/>
          </a:xfrm>
          <a:prstGeom prst="roundRect">
            <a:avLst>
              <a:gd name="adj" fmla="val 26666"/>
            </a:avLst>
          </a:prstGeom>
          <a:solidFill>
            <a:srgbClr val="06B6D4">
              <a:alpha val="20000"/>
            </a:srgbClr>
          </a:solidFill>
          <a:ln w="9525">
            <a:solidFill>
              <a:srgbClr val="06B6D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39450" y="600075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7E8F9"/>
                </a:solidFill>
                <a:latin typeface="Inter"/>
              </a:rPr>
              <a:t>System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2047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ReadyNow! Case Study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2850" y="6324600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47700"/>
            <a:ext cx="724090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ReadyNow! Mission &amp; Core Architectural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1962150"/>
            <a:ext cx="52197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Field teams and operators require rapid, dependable situational awareness uniting meteorological hazards, driving routes, local event schedules, and advisory queries.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1962150"/>
            <a:ext cx="52197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A modular micro-agent topology governed by a root orchestrator, real-time guardrails, an iterative refinement team, and cloud deployment.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54305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0125" y="1562100"/>
            <a:ext cx="184023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Inter"/>
              </a:rPr>
              <a:t>Business Challenges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543050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10375" y="1562100"/>
            <a:ext cx="196024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Inter"/>
              </a:rPr>
              <a:t>Architectural Solution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628775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524125"/>
            <a:ext cx="114300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1525" y="2486025"/>
            <a:ext cx="3267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Data fragmentation across disparate APIs (NWS, Maps, Web)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752725"/>
            <a:ext cx="114300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1525" y="2714625"/>
            <a:ext cx="3362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Risk of unverified LLM answers or hallucinatory routing advice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981325"/>
            <a:ext cx="114300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1525" y="2943225"/>
            <a:ext cx="3105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Vulnerability to prompt injection and malicious user inputs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1628775"/>
            <a:ext cx="1143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2524125"/>
            <a:ext cx="104775" cy="114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72250" y="2486025"/>
            <a:ext cx="3038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Modular micro-agents with clear tool-calling boundaries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2752725"/>
            <a:ext cx="104775" cy="114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72250" y="2714625"/>
            <a:ext cx="2828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Sequential critique loop guaranteeing answer quality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2981325"/>
            <a:ext cx="104775" cy="1143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72250" y="2943225"/>
            <a:ext cx="3257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Native deployment to Google Cloud Vertex AI Agent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5695950"/>
            <a:ext cx="194682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95" y="5695950"/>
            <a:ext cx="1946969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515" y="5695950"/>
            <a:ext cx="194682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1285" y="5695950"/>
            <a:ext cx="1946969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205" y="5695950"/>
            <a:ext cx="1946820" cy="228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53650" y="542925"/>
            <a:ext cx="1657350" cy="285750"/>
          </a:xfrm>
          <a:prstGeom prst="roundRect">
            <a:avLst>
              <a:gd name="adj" fmla="val 26666"/>
            </a:avLst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000" y="1304925"/>
            <a:ext cx="2194470" cy="4743450"/>
          </a:xfrm>
          <a:prstGeom prst="roundRect">
            <a:avLst>
              <a:gd name="adj" fmla="val 52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89770" y="1304925"/>
            <a:ext cx="2194619" cy="4743450"/>
          </a:xfrm>
          <a:prstGeom prst="roundRect">
            <a:avLst>
              <a:gd name="adj" fmla="val 52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98690" y="1304925"/>
            <a:ext cx="2194470" cy="4743450"/>
          </a:xfrm>
          <a:prstGeom prst="roundRect">
            <a:avLst>
              <a:gd name="adj" fmla="val 52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07460" y="1304925"/>
            <a:ext cx="2194619" cy="4743450"/>
          </a:xfrm>
          <a:prstGeom prst="roundRect">
            <a:avLst>
              <a:gd name="adj" fmla="val 52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16380" y="1304925"/>
            <a:ext cx="2194470" cy="4743450"/>
          </a:xfrm>
          <a:prstGeom prst="roundRect">
            <a:avLst>
              <a:gd name="adj" fmla="val 52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825" y="2109787"/>
            <a:ext cx="1946820" cy="485775"/>
          </a:xfrm>
          <a:prstGeom prst="roundRect">
            <a:avLst>
              <a:gd name="adj" fmla="val 784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825" y="2652712"/>
            <a:ext cx="1946820" cy="485775"/>
          </a:xfrm>
          <a:prstGeom prst="roundRect">
            <a:avLst>
              <a:gd name="adj" fmla="val 784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13595" y="2109787"/>
            <a:ext cx="1946969" cy="485775"/>
          </a:xfrm>
          <a:prstGeom prst="roundRect">
            <a:avLst>
              <a:gd name="adj" fmla="val 784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3595" y="2652712"/>
            <a:ext cx="1946969" cy="485775"/>
          </a:xfrm>
          <a:prstGeom prst="roundRect">
            <a:avLst>
              <a:gd name="adj" fmla="val 784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2515" y="2109787"/>
            <a:ext cx="1946820" cy="290512"/>
          </a:xfrm>
          <a:prstGeom prst="roundRect">
            <a:avLst>
              <a:gd name="adj" fmla="val 1311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2515" y="2438400"/>
            <a:ext cx="1946820" cy="290512"/>
          </a:xfrm>
          <a:prstGeom prst="roundRect">
            <a:avLst>
              <a:gd name="adj" fmla="val 1311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2515" y="2767012"/>
            <a:ext cx="1946820" cy="290512"/>
          </a:xfrm>
          <a:prstGeom prst="roundRect">
            <a:avLst>
              <a:gd name="adj" fmla="val 1311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2515" y="3095625"/>
            <a:ext cx="1946820" cy="290512"/>
          </a:xfrm>
          <a:prstGeom prst="roundRect">
            <a:avLst>
              <a:gd name="adj" fmla="val 1311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31285" y="2109787"/>
            <a:ext cx="1946969" cy="485775"/>
          </a:xfrm>
          <a:prstGeom prst="roundRect">
            <a:avLst>
              <a:gd name="adj" fmla="val 784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31285" y="2652712"/>
            <a:ext cx="1946969" cy="485775"/>
          </a:xfrm>
          <a:prstGeom prst="roundRect">
            <a:avLst>
              <a:gd name="adj" fmla="val 784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40205" y="2109787"/>
            <a:ext cx="1946820" cy="485775"/>
          </a:xfrm>
          <a:prstGeom prst="roundRect">
            <a:avLst>
              <a:gd name="adj" fmla="val 784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40205" y="2652712"/>
            <a:ext cx="1946820" cy="485775"/>
          </a:xfrm>
          <a:prstGeom prst="roundRect">
            <a:avLst>
              <a:gd name="adj" fmla="val 784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000" y="381000"/>
            <a:ext cx="6000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818CF8"/>
                </a:solidFill>
                <a:latin typeface="Inter"/>
              </a:rPr>
              <a:t>System Schematic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53650" y="542925"/>
            <a:ext cx="1657350" cy="285750"/>
          </a:xfrm>
          <a:prstGeom prst="roundRect">
            <a:avLst>
              <a:gd name="adj" fmla="val 26666"/>
            </a:avLst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7950" y="600075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A5B4FC"/>
                </a:solidFill>
                <a:latin typeface="Inter"/>
              </a:rPr>
              <a:t>Tiered Execution Diagram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" y="632460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ReadyNow! Tiered System Architecture Topology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72850" y="6324600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" y="647700"/>
            <a:ext cx="63007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End-to-End Solution Architecture Diagram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825" y="1428750"/>
            <a:ext cx="194682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F87171"/>
                </a:solidFill>
                <a:latin typeface="Inter"/>
              </a:rPr>
              <a:t>TIER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825" y="1609725"/>
            <a:ext cx="2044161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Ingress &amp;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825" y="1838325"/>
            <a:ext cx="194682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Pre-execution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3595" y="1428750"/>
            <a:ext cx="194696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22D3EE"/>
                </a:solidFill>
                <a:latin typeface="Inter"/>
              </a:rPr>
              <a:t>TIER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3595" y="1609725"/>
            <a:ext cx="204431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Root Coordinator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3595" y="1838325"/>
            <a:ext cx="1946969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Central dispatcher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2515" y="1428750"/>
            <a:ext cx="194682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C084FC"/>
                </a:solidFill>
                <a:latin typeface="Inter"/>
              </a:rPr>
              <a:t>TIER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2515" y="1609725"/>
            <a:ext cx="2044161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Specialist Fleet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2515" y="1838325"/>
            <a:ext cx="194682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Domain micro-agents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1285" y="1428750"/>
            <a:ext cx="194696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34D399"/>
                </a:solidFill>
                <a:latin typeface="Inter"/>
              </a:rPr>
              <a:t>TIER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31285" y="1609725"/>
            <a:ext cx="204431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Answer 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31285" y="1838325"/>
            <a:ext cx="1946969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Sequential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40205" y="1428750"/>
            <a:ext cx="194682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60A5FA"/>
                </a:solidFill>
                <a:latin typeface="Inter"/>
              </a:rPr>
              <a:t>TIER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40205" y="1609725"/>
            <a:ext cx="2044161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Cloud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40205" y="1838325"/>
            <a:ext cx="194682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Vertex AI runtime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0" y="2195512"/>
            <a:ext cx="177537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FCA5A5"/>
                </a:solidFill>
                <a:latin typeface="Inter"/>
              </a:rPr>
              <a:t>Input Validator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550" y="2738437"/>
            <a:ext cx="177537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FDE047"/>
                </a:solidFill>
                <a:latin typeface="Inter"/>
              </a:rPr>
              <a:t>Geo-Fence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99320" y="2195512"/>
            <a:ext cx="1775519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67E8F9"/>
                </a:solidFill>
                <a:latin typeface="Inter"/>
              </a:rPr>
              <a:t>Capability Engine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99320" y="2738437"/>
            <a:ext cx="1775519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67E8F9"/>
                </a:solidFill>
                <a:latin typeface="Inter"/>
              </a:rPr>
              <a:t>Task Router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89190" y="2176462"/>
            <a:ext cx="40957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FDE047"/>
                </a:solidFill>
                <a:latin typeface="Inter"/>
              </a:rPr>
              <a:t>Weather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93085" y="2183606"/>
            <a:ext cx="40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NWS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9190" y="2505075"/>
            <a:ext cx="29527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EE7B7"/>
                </a:solidFill>
                <a:latin typeface="Inter"/>
              </a:rPr>
              <a:t>Route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74035" y="2512218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Maps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9190" y="2833687"/>
            <a:ext cx="34290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7E8F9"/>
                </a:solidFill>
                <a:latin typeface="Inter"/>
              </a:rPr>
              <a:t>Search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93085" y="2840831"/>
            <a:ext cx="40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ADK Tool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9190" y="3162300"/>
            <a:ext cx="21907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5B4FC"/>
                </a:solidFill>
                <a:latin typeface="Inter"/>
              </a:rPr>
              <a:t>Q&amp;A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74035" y="3169443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Synthesis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17010" y="2195512"/>
            <a:ext cx="1775519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6EE7B7"/>
                </a:solidFill>
                <a:latin typeface="Inter"/>
              </a:rPr>
              <a:t>Critique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17010" y="2738437"/>
            <a:ext cx="1775519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6EE7B7"/>
                </a:solidFill>
                <a:latin typeface="Inter"/>
              </a:rPr>
              <a:t>Refine Agent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5930" y="2195512"/>
            <a:ext cx="177537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93C5FD"/>
                </a:solidFill>
                <a:latin typeface="Inter"/>
              </a:rPr>
              <a:t>Reasoning Engine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5930" y="2738437"/>
            <a:ext cx="177537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93C5FD"/>
                </a:solidFill>
                <a:latin typeface="Inter"/>
              </a:rPr>
              <a:t>Streaming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5567362"/>
            <a:ext cx="5219700" cy="2428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5567362"/>
            <a:ext cx="5219700" cy="2428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15575" y="542925"/>
            <a:ext cx="1495425" cy="285750"/>
          </a:xfrm>
          <a:prstGeom prst="roundRect">
            <a:avLst>
              <a:gd name="adj" fmla="val 26666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1025" y="2381250"/>
            <a:ext cx="5219700" cy="685800"/>
          </a:xfrm>
          <a:prstGeom prst="roundRect">
            <a:avLst>
              <a:gd name="adj" fmla="val 11111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1025" y="3143250"/>
            <a:ext cx="5219700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91275" y="2381250"/>
            <a:ext cx="5219700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91275" y="2990850"/>
            <a:ext cx="5219700" cy="685800"/>
          </a:xfrm>
          <a:prstGeom prst="roundRect">
            <a:avLst>
              <a:gd name="adj" fmla="val 11111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381000"/>
            <a:ext cx="5648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7171"/>
                </a:solidFill>
                <a:latin typeface="Inter"/>
              </a:rPr>
              <a:t>Layer 1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15575" y="542925"/>
            <a:ext cx="1495425" cy="285750"/>
          </a:xfrm>
          <a:prstGeom prst="roundRect">
            <a:avLst>
              <a:gd name="adj" fmla="val 26666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9875" y="600075"/>
            <a:ext cx="1266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CA5A5"/>
                </a:solidFill>
                <a:latin typeface="Inter"/>
              </a:rPr>
              <a:t>Zero-Trust Gatekeeper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6324600"/>
            <a:ext cx="1819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Layer 1: Pre-Execution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3325" y="6324600"/>
            <a:ext cx="447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647700"/>
            <a:ext cx="59307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Ingress Security &amp; Defensive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1962150"/>
            <a:ext cx="5219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Interception layer executed before prompt dispatch to protect system prompts, API keys, and model integrity.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1962150"/>
            <a:ext cx="5219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Pre-validates location arguments against authorized US territories prior to invoking the National Weather Service API.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543050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0125" y="1581150"/>
            <a:ext cx="347043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Prompt Injection &amp; Malicious Input Defense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54305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10375" y="1581150"/>
            <a:ext cx="27503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Jurisdictional Boundary Validation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628775"/>
            <a:ext cx="133350" cy="133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" y="248602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CA5A5"/>
                </a:solidFill>
                <a:latin typeface="Inter"/>
              </a:rPr>
              <a:t>Instruction Override Interception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67000"/>
            <a:ext cx="4695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Blocks expressions such as "ignore all previous instructions", "system override", and roleplay bypasses.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24802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CA5A5"/>
                </a:solidFill>
                <a:latin typeface="Inter"/>
              </a:rPr>
              <a:t>Credential Exfiltration Defense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429000"/>
            <a:ext cx="48291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Denies requests attempting to leak environment variables, bearer tokens, or backend endpoints.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1628775"/>
            <a:ext cx="152400" cy="1333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6050" y="248602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DE047"/>
                </a:solidFill>
                <a:latin typeface="Inter"/>
              </a:rPr>
              <a:t>Geocoding Country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6050" y="2667000"/>
            <a:ext cx="4000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Confirms country code ("US", "PR", "GU", "VI") via Google Maps Geocoding API.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6050" y="309562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DE047"/>
                </a:solidFill>
                <a:latin typeface="Inter"/>
              </a:rPr>
              <a:t>Graceful Advisory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6050" y="3276600"/>
            <a:ext cx="4857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Catches international queries (e.g., Paris, Tokyo) and returns a user advisory before NWS failures occur.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5567362"/>
            <a:ext cx="5219700" cy="2428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5567362"/>
            <a:ext cx="5219700" cy="2428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67975" y="542925"/>
            <a:ext cx="1343025" cy="285750"/>
          </a:xfrm>
          <a:prstGeom prst="roundRect">
            <a:avLst>
              <a:gd name="adj" fmla="val 26666"/>
            </a:avLst>
          </a:prstGeom>
          <a:solidFill>
            <a:srgbClr val="06B6D4">
              <a:alpha val="20000"/>
            </a:srgbClr>
          </a:solidFill>
          <a:ln w="9525">
            <a:solidFill>
              <a:srgbClr val="06B6D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1025" y="2381250"/>
            <a:ext cx="5219700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1025" y="2990850"/>
            <a:ext cx="5219700" cy="685800"/>
          </a:xfrm>
          <a:prstGeom prst="roundRect">
            <a:avLst>
              <a:gd name="adj" fmla="val 11111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91275" y="2381250"/>
            <a:ext cx="5219700" cy="685800"/>
          </a:xfrm>
          <a:prstGeom prst="roundRect">
            <a:avLst>
              <a:gd name="adj" fmla="val 11111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91275" y="3143250"/>
            <a:ext cx="5219700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381000"/>
            <a:ext cx="5181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2D3EE"/>
                </a:solidFill>
                <a:latin typeface="Inter"/>
              </a:rPr>
              <a:t>Layer 2 Coordination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67975" y="542925"/>
            <a:ext cx="1343025" cy="285750"/>
          </a:xfrm>
          <a:prstGeom prst="roundRect">
            <a:avLst>
              <a:gd name="adj" fmla="val 26666"/>
            </a:avLst>
          </a:prstGeom>
          <a:solidFill>
            <a:srgbClr val="06B6D4">
              <a:alpha val="20000"/>
            </a:srgbClr>
          </a:solidFill>
          <a:ln w="9525">
            <a:solidFill>
              <a:srgbClr val="06B6D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82275" y="600075"/>
            <a:ext cx="1114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7E8F9"/>
                </a:solidFill>
                <a:latin typeface="Inter"/>
              </a:rPr>
              <a:t>Hierarchical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6324600"/>
            <a:ext cx="1819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Layer 2: Orchestration &amp;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72850" y="6324600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647700"/>
            <a:ext cx="54406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Root Orchestrator &amp; Task Dispatcher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1962150"/>
            <a:ext cx="5219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Evaluates user intent and dynamically delegates requests to the optimal specialist sub-agent or coordinates compound executions.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1962150"/>
            <a:ext cx="5219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Maintains runtime awareness of system capabilities, active sub-agent tools, and conversation state management.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543050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0125" y="1581150"/>
            <a:ext cx="18802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Dynamic Intent Routing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54305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10375" y="1581150"/>
            <a:ext cx="31603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Self-Describing Capability Governance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628775"/>
            <a:ext cx="152400" cy="133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" y="248602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7E8F9"/>
                </a:solidFill>
                <a:latin typeface="Inter"/>
              </a:rPr>
              <a:t>Single-Domain Dispatch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67000"/>
            <a:ext cx="45434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Directs pure weather queries to WeatherAgent and pure navigation queries to RouteAgent.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09562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7E8F9"/>
                </a:solidFill>
                <a:latin typeface="Inter"/>
              </a:rPr>
              <a:t>Compound Multi-Agent Synthesis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276600"/>
            <a:ext cx="49339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Handles hybrid prompts like "check weather along my drive from Denver to Chicago and find local festivals" by combining sub-agents.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1628775"/>
            <a:ext cx="152400" cy="1333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6050" y="248602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describe_capabilities()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6050" y="2667000"/>
            <a:ext cx="47339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Provides users with a structured summary of available services, supported formats, and active models.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6050" y="324802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Session Memory &amp; User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6050" y="3429000"/>
            <a:ext cx="41433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Maintains multi-turn context across sub-agent handoffs using session identifiers.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5619750"/>
            <a:ext cx="241935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525" y="5619750"/>
            <a:ext cx="24193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5619750"/>
            <a:ext cx="241935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9725" y="5619750"/>
            <a:ext cx="2419350" cy="228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53700" y="542925"/>
            <a:ext cx="1257300" cy="285750"/>
          </a:xfrm>
          <a:prstGeom prst="roundRect">
            <a:avLst>
              <a:gd name="adj" fmla="val 26666"/>
            </a:avLst>
          </a:prstGeom>
          <a:solidFill>
            <a:srgbClr val="A855F7">
              <a:alpha val="20000"/>
            </a:srgbClr>
          </a:solidFill>
          <a:ln w="9525">
            <a:solidFill>
              <a:srgbClr val="A855F7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000" y="1343025"/>
            <a:ext cx="2743200" cy="466725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76600" y="1343025"/>
            <a:ext cx="2743200" cy="466725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343025"/>
            <a:ext cx="2743200" cy="466725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67800" y="1343025"/>
            <a:ext cx="2743200" cy="466725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2925" y="2571750"/>
            <a:ext cx="2419350" cy="700087"/>
          </a:xfrm>
          <a:prstGeom prst="roundRect">
            <a:avLst>
              <a:gd name="adj" fmla="val 5442"/>
            </a:avLst>
          </a:prstGeom>
          <a:solidFill>
            <a:srgbClr val="1E293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525" y="2571750"/>
            <a:ext cx="2419350" cy="700087"/>
          </a:xfrm>
          <a:prstGeom prst="roundRect">
            <a:avLst>
              <a:gd name="adj" fmla="val 5442"/>
            </a:avLst>
          </a:prstGeom>
          <a:solidFill>
            <a:srgbClr val="1E293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4125" y="2571750"/>
            <a:ext cx="2419350" cy="700087"/>
          </a:xfrm>
          <a:prstGeom prst="roundRect">
            <a:avLst>
              <a:gd name="adj" fmla="val 5442"/>
            </a:avLst>
          </a:prstGeom>
          <a:solidFill>
            <a:srgbClr val="1E293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29725" y="2571750"/>
            <a:ext cx="2419350" cy="700087"/>
          </a:xfrm>
          <a:prstGeom prst="roundRect">
            <a:avLst>
              <a:gd name="adj" fmla="val 5442"/>
            </a:avLst>
          </a:prstGeom>
          <a:solidFill>
            <a:srgbClr val="1E293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381000"/>
            <a:ext cx="62769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084FC"/>
                </a:solidFill>
                <a:latin typeface="Inter"/>
              </a:rPr>
              <a:t>Layer 3 Specialists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53700" y="542925"/>
            <a:ext cx="1257300" cy="285750"/>
          </a:xfrm>
          <a:prstGeom prst="roundRect">
            <a:avLst>
              <a:gd name="adj" fmla="val 26666"/>
            </a:avLst>
          </a:prstGeom>
          <a:solidFill>
            <a:srgbClr val="A855F7">
              <a:alpha val="20000"/>
            </a:srgbClr>
          </a:solidFill>
          <a:ln w="9525">
            <a:solidFill>
              <a:srgbClr val="A855F7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68000" y="600075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D8B4FE"/>
                </a:solidFill>
                <a:latin typeface="Inter"/>
              </a:rPr>
              <a:t>Micro-Agent Mesh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6324600"/>
            <a:ext cx="2028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Layer 3: Specialized Sub-Agent Mesh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72850" y="6324600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647700"/>
            <a:ext cx="659082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Specialized Sub-Agent Fleet &amp; Tool Bindings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150495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2925" y="1924050"/>
            <a:ext cx="254031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Weather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2152650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Fetches real-time forecasts and weather alerts across US cities.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525" y="1504950"/>
            <a:ext cx="304800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438525" y="1924050"/>
            <a:ext cx="254031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Route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8525" y="2152650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Computes optimal driving directions, mileage, and transit times.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1504950"/>
            <a:ext cx="304800" cy="304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34125" y="1924050"/>
            <a:ext cx="254031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Search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4125" y="2152650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Grounds model reasoning with live web intelligence and event data.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725" y="150495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29725" y="1924050"/>
            <a:ext cx="254031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Q&amp;A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9725" y="2152650"/>
            <a:ext cx="2419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Provides multi-modal conceptual answers and synthesis.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590675"/>
            <a:ext cx="171450" cy="1333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9125" y="2647950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FDE047"/>
                </a:solidFill>
                <a:latin typeface="Inter"/>
              </a:rPr>
              <a:t>Tools: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125" y="2843212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geocode_address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125" y="3038475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get_nws_weather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1590675"/>
            <a:ext cx="133350" cy="1333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514725" y="2647950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6EE7B7"/>
                </a:solidFill>
                <a:latin typeface="Inter"/>
              </a:rPr>
              <a:t>Tools: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4725" y="2843212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get_driving_directions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4725" y="3038475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format_route_summary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1590675"/>
            <a:ext cx="133350" cy="1333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10325" y="2647950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67E8F9"/>
                </a:solidFill>
                <a:latin typeface="Inter"/>
              </a:rPr>
              <a:t>Tools: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0325" y="2843212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ADK GoogleSearch()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0325" y="3038475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extract_grounded_snippets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6400" y="1590675"/>
            <a:ext cx="1714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05925" y="2647950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D8B4FE"/>
                </a:solidFill>
                <a:latin typeface="Inter"/>
              </a:rPr>
              <a:t>Tools: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5925" y="2843212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SynthesizerEngine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5925" y="3038475"/>
            <a:ext cx="22669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MultiModelBackend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5529262"/>
            <a:ext cx="3282850" cy="2428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425" y="5529262"/>
            <a:ext cx="3282999" cy="24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975" y="5529262"/>
            <a:ext cx="3282850" cy="2428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48925" y="542925"/>
            <a:ext cx="1362075" cy="285750"/>
          </a:xfrm>
          <a:prstGeom prst="roundRect">
            <a:avLst>
              <a:gd name="adj" fmla="val 26666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1381125"/>
            <a:ext cx="3682900" cy="4591050"/>
          </a:xfrm>
          <a:prstGeom prst="roundRect">
            <a:avLst>
              <a:gd name="adj" fmla="val 41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4400" y="1381125"/>
            <a:ext cx="3683049" cy="4591050"/>
          </a:xfrm>
          <a:prstGeom prst="roundRect">
            <a:avLst>
              <a:gd name="adj" fmla="val 413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7950" y="1381125"/>
            <a:ext cx="3682900" cy="4591050"/>
          </a:xfrm>
          <a:prstGeom prst="roundRect">
            <a:avLst>
              <a:gd name="adj" fmla="val 41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1025" y="2790825"/>
            <a:ext cx="3282850" cy="742950"/>
          </a:xfrm>
          <a:prstGeom prst="roundRect">
            <a:avLst>
              <a:gd name="adj" fmla="val 10256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4425" y="2790825"/>
            <a:ext cx="3282999" cy="742950"/>
          </a:xfrm>
          <a:prstGeom prst="roundRect">
            <a:avLst>
              <a:gd name="adj" fmla="val 10256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7975" y="2790825"/>
            <a:ext cx="3282850" cy="742950"/>
          </a:xfrm>
          <a:prstGeom prst="roundRect">
            <a:avLst>
              <a:gd name="adj" fmla="val 10256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381000"/>
            <a:ext cx="6477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Inter"/>
              </a:rPr>
              <a:t>Layer 4 Quality Assurance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48925" y="542925"/>
            <a:ext cx="1362075" cy="285750"/>
          </a:xfrm>
          <a:prstGeom prst="roundRect">
            <a:avLst>
              <a:gd name="adj" fmla="val 26666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63225" y="600075"/>
            <a:ext cx="1133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EE7B7"/>
                </a:solidFill>
                <a:latin typeface="Inter"/>
              </a:rPr>
              <a:t>Cyclic Answer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6324600"/>
            <a:ext cx="2895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Layer 4: Sequential Validation &amp; Refinement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2850" y="6324600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647700"/>
            <a:ext cx="6800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Sequential Validation &amp; Refinement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1962150"/>
            <a:ext cx="34469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Search &amp; Draft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2266950"/>
            <a:ext cx="32828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Gathers raw factual data from tools and constructs the preliminary baseline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4425" y="1962150"/>
            <a:ext cx="34471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Critique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4425" y="2266950"/>
            <a:ext cx="32829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Analyzes the draft against completeness, factual hallucinations, and ambiguity.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7975" y="1962150"/>
            <a:ext cx="34469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Refine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7975" y="2266950"/>
            <a:ext cx="32828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Rewrites the response incorporating all critique feedback into an executive summary.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1638300"/>
            <a:ext cx="40585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22D3EE"/>
                </a:solidFill>
                <a:latin typeface="Inter"/>
              </a:rPr>
              <a:t>STEP 1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175" y="1581150"/>
            <a:ext cx="266700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850" y="2914650"/>
            <a:ext cx="3035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7E8F9"/>
                </a:solidFill>
                <a:latin typeface="Inter"/>
              </a:rPr>
              <a:t>Function: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4425" y="1638300"/>
            <a:ext cx="43442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ACC15"/>
                </a:solidFill>
                <a:latin typeface="Inter"/>
              </a:rPr>
              <a:t>STEP 2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725" y="1581150"/>
            <a:ext cx="266700" cy="2667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78250" y="2914650"/>
            <a:ext cx="30353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DE047"/>
                </a:solidFill>
                <a:latin typeface="Inter"/>
              </a:rPr>
              <a:t>Function: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7975" y="1638300"/>
            <a:ext cx="43442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STEP 3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4126" y="1581150"/>
            <a:ext cx="266700" cy="2667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51800" y="2914650"/>
            <a:ext cx="3035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EE7B7"/>
                </a:solidFill>
                <a:latin typeface="Inter"/>
              </a:rPr>
              <a:t>Function: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3375" y="1657350"/>
            <a:ext cx="114300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1212" y="1657350"/>
            <a:ext cx="85725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326" y="165735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5567362"/>
            <a:ext cx="5219700" cy="2428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5567362"/>
            <a:ext cx="5219700" cy="2428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34650" y="542925"/>
            <a:ext cx="1276350" cy="285750"/>
          </a:xfrm>
          <a:prstGeom prst="roundRect">
            <a:avLst>
              <a:gd name="adj" fmla="val 26666"/>
            </a:avLst>
          </a:prstGeom>
          <a:solidFill>
            <a:srgbClr val="06B6D4">
              <a:alpha val="20000"/>
            </a:srgbClr>
          </a:solidFill>
          <a:ln w="9525">
            <a:solidFill>
              <a:srgbClr val="06B6D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1025" y="2228850"/>
            <a:ext cx="5219700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1025" y="2838450"/>
            <a:ext cx="5219700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91275" y="2228850"/>
            <a:ext cx="5219700" cy="323850"/>
          </a:xfrm>
          <a:prstGeom prst="roundRect">
            <a:avLst>
              <a:gd name="adj" fmla="val 11764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91275" y="2628900"/>
            <a:ext cx="5219700" cy="323850"/>
          </a:xfrm>
          <a:prstGeom prst="roundRect">
            <a:avLst>
              <a:gd name="adj" fmla="val 11764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91275" y="3028950"/>
            <a:ext cx="5219700" cy="323850"/>
          </a:xfrm>
          <a:prstGeom prst="roundRect">
            <a:avLst>
              <a:gd name="adj" fmla="val 11764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91275" y="3429000"/>
            <a:ext cx="5219700" cy="323850"/>
          </a:xfrm>
          <a:prstGeom prst="roundRect">
            <a:avLst>
              <a:gd name="adj" fmla="val 11764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000" y="381000"/>
            <a:ext cx="6572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2D3EE"/>
                </a:solidFill>
                <a:latin typeface="Inter"/>
              </a:rPr>
              <a:t>Layer 5 Observability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34650" y="542925"/>
            <a:ext cx="1276350" cy="285750"/>
          </a:xfrm>
          <a:prstGeom prst="roundRect">
            <a:avLst>
              <a:gd name="adj" fmla="val 26666"/>
            </a:avLst>
          </a:prstGeom>
          <a:solidFill>
            <a:srgbClr val="06B6D4">
              <a:alpha val="20000"/>
            </a:srgbClr>
          </a:solidFill>
          <a:ln w="9525">
            <a:solidFill>
              <a:srgbClr val="06B6D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48950" y="600075"/>
            <a:ext cx="104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7E8F9"/>
                </a:solidFill>
                <a:latin typeface="Inter"/>
              </a:rPr>
              <a:t>Event-Driven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6324600"/>
            <a:ext cx="2447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Layer 5: Enterprise Observability &amp; Telemetry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72850" y="6324600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647700"/>
            <a:ext cx="69008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Enterprise Observability &amp; Callback Telemetry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1962150"/>
            <a:ext cx="5219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Structured callback hooks recording real-time events across the multi-agent execution lifecycle.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1962150"/>
            <a:ext cx="5219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Emits visual event headers directly to the notebook to demonstrate transparent agent reasoning.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54305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0125" y="1581150"/>
            <a:ext cx="30403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Full-Interaction Callback Architecture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543050"/>
            <a:ext cx="304800" cy="304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10375" y="1581150"/>
            <a:ext cx="276034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Real-Time Notebook Event Stream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628775"/>
            <a:ext cx="152400" cy="1333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" y="250507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Logs incoming prompt, user credentials, sanitization status, and session token.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114675"/>
            <a:ext cx="501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Captures response tokens, end-to-end latency in milliseconds, model name, and tool call counts.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1628775"/>
            <a:ext cx="133350" cy="1333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77000" y="2333625"/>
            <a:ext cx="1131837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22D3EE"/>
                </a:solidFill>
                <a:latin typeface="ui-monospace"/>
              </a:rPr>
              <a:t>[EVENT | ROUTING]: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792" y="2333625"/>
            <a:ext cx="157192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ui-monospace"/>
              </a:rPr>
              <a:t>Targeting Weather &amp;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2733675"/>
            <a:ext cx="1257597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FACC15"/>
                </a:solidFill>
                <a:latin typeface="ui-monospace"/>
              </a:rPr>
              <a:t>[EVENT | TOOL_EXEC]: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7551" y="2733675"/>
            <a:ext cx="169768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ui-monospace"/>
              </a:rPr>
              <a:t>get_nws_weather(Denver, CO)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0" y="3133725"/>
            <a:ext cx="1194643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34D399"/>
                </a:solidFill>
                <a:latin typeface="ui-monospace"/>
              </a:rPr>
              <a:t>[EVENT | CRITIQUE]: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4597" y="3133725"/>
            <a:ext cx="2137767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ui-monospace"/>
              </a:rPr>
              <a:t>Verification score 0.98 (Approved)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0" y="3533775"/>
            <a:ext cx="1068883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084FC"/>
                </a:solidFill>
                <a:latin typeface="ui-monospace"/>
              </a:rPr>
              <a:t>[EVENT | RETURN]: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8837" y="3533775"/>
            <a:ext cx="1509117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ui-monospace"/>
              </a:rPr>
              <a:t>Streaming final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333625"/>
            <a:ext cx="1390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on_user_prompt Callback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0575" y="2333625"/>
            <a:ext cx="1095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1" i="0" u="none">
                <a:solidFill>
                  <a:srgbClr val="94A3B8"/>
                </a:solidFill>
                <a:latin typeface="Inter"/>
              </a:rPr>
              <a:t>Timestamp &amp; Input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943225"/>
            <a:ext cx="1600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on_model_response Callback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7250" y="2943225"/>
            <a:ext cx="1028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1" i="0" u="none">
                <a:solidFill>
                  <a:srgbClr val="94A3B8"/>
                </a:solidFill>
                <a:latin typeface="Inter"/>
              </a:rPr>
              <a:t>Latency &amp; Output 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5443537"/>
            <a:ext cx="3282850" cy="3667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425" y="5443537"/>
            <a:ext cx="3282999" cy="366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975" y="5443537"/>
            <a:ext cx="3282850" cy="3667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54305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425" y="15430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975" y="1543050"/>
            <a:ext cx="304800" cy="30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72675" y="542925"/>
            <a:ext cx="1838325" cy="285750"/>
          </a:xfrm>
          <a:prstGeom prst="roundRect">
            <a:avLst>
              <a:gd name="adj" fmla="val 26666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1000" y="1343025"/>
            <a:ext cx="3682900" cy="4667250"/>
          </a:xfrm>
          <a:prstGeom prst="roundRect">
            <a:avLst>
              <a:gd name="adj" fmla="val 41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4400" y="1343025"/>
            <a:ext cx="3683049" cy="4667250"/>
          </a:xfrm>
          <a:prstGeom prst="roundRect">
            <a:avLst>
              <a:gd name="adj" fmla="val 413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7950" y="1343025"/>
            <a:ext cx="3682900" cy="4667250"/>
          </a:xfrm>
          <a:prstGeom prst="roundRect">
            <a:avLst>
              <a:gd name="adj" fmla="val 413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381000"/>
            <a:ext cx="7524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0A5FA"/>
                </a:solidFill>
                <a:latin typeface="Inter"/>
              </a:rPr>
              <a:t>Layer 6 Cloud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72675" y="542925"/>
            <a:ext cx="1838325" cy="285750"/>
          </a:xfrm>
          <a:prstGeom prst="roundRect">
            <a:avLst>
              <a:gd name="adj" fmla="val 26666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86975" y="600075"/>
            <a:ext cx="16097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3C5FD"/>
                </a:solidFill>
                <a:latin typeface="Inter"/>
              </a:rPr>
              <a:t>Managed Container Topology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632460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Layer 6: Cloud Platform Deployment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2850" y="6324600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647700"/>
            <a:ext cx="79009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Vertex AI Agent Platform &amp; Agent Engine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1962150"/>
            <a:ext cx="34469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Package Packaging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2266950"/>
            <a:ext cx="3282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Structures the ADK agent project using clean pure-Python file generation.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4425" y="1962150"/>
            <a:ext cx="34471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Agent Engine Staging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4425" y="2266950"/>
            <a:ext cx="32829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Registers and uploads agent graph to Google Cloud Agent Platform runtime.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7975" y="1962150"/>
            <a:ext cx="34469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Live Session &amp;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7975" y="2266950"/>
            <a:ext cx="3282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Enables low-latency streaming interactions and multi-turn sessions on remote reasoning engines.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2705100"/>
            <a:ext cx="104775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62000" y="2686050"/>
            <a:ext cx="1666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Pure Python pathlib generation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2933700"/>
            <a:ext cx="104775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62000" y="2914650"/>
            <a:ext cx="1590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Fixed container requirements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162300"/>
            <a:ext cx="104775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2000" y="3143250"/>
            <a:ext cx="1600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Staging bucket gs://...-staging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425" y="2705100"/>
            <a:ext cx="104775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35400" y="268605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CLI deploy: adk deploy agent_engine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425" y="2933700"/>
            <a:ext cx="104775" cy="114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35400" y="2914650"/>
            <a:ext cx="1771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Configured with Gemini 2.5 Flash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425" y="3162300"/>
            <a:ext cx="104775" cy="114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635400" y="3143250"/>
            <a:ext cx="1638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Managed us-central1 endpoint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7975" y="2705100"/>
            <a:ext cx="104775" cy="1143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08950" y="2686050"/>
            <a:ext cx="2019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create_session maintaining user state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7975" y="2933700"/>
            <a:ext cx="104775" cy="1143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508950" y="291465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REST &amp; gRPC :streamQuery API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7975" y="3162300"/>
            <a:ext cx="104775" cy="1143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08950" y="314325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Parses clean human-readable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5567362"/>
            <a:ext cx="5219700" cy="2428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5567362"/>
            <a:ext cx="5219700" cy="2428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87050" y="542925"/>
            <a:ext cx="1123950" cy="285750"/>
          </a:xfrm>
          <a:prstGeom prst="roundRect">
            <a:avLst>
              <a:gd name="adj" fmla="val 26666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343025"/>
            <a:ext cx="5619750" cy="4667250"/>
          </a:xfrm>
          <a:prstGeom prst="roundRect">
            <a:avLst>
              <a:gd name="adj" fmla="val 32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000" y="381000"/>
            <a:ext cx="708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Inter"/>
              </a:rPr>
              <a:t>Verification &amp;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87050" y="542925"/>
            <a:ext cx="1123950" cy="285750"/>
          </a:xfrm>
          <a:prstGeom prst="roundRect">
            <a:avLst>
              <a:gd name="adj" fmla="val 26666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1350" y="600075"/>
            <a:ext cx="895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EE7B7"/>
                </a:solidFill>
                <a:latin typeface="Inter"/>
              </a:rPr>
              <a:t>100% Pass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2952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Verification Framework &amp; Production Readiness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91900" y="6324600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47700"/>
            <a:ext cx="744093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Verification Matrix &amp; Multi-City Validation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1847850"/>
            <a:ext cx="5219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Evaluates NWS API resolution and geographic error interceptors across diverse climates.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1847850"/>
            <a:ext cx="5219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Validates cross-domain orchestration, sequential refinement, and live cloud streaming.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581150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625" y="1543050"/>
            <a:ext cx="2838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Multi-City Weather &amp; Boundary Tests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114550"/>
            <a:ext cx="5219700" cy="3238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495550"/>
            <a:ext cx="5219700" cy="3238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76550"/>
            <a:ext cx="5219700" cy="3238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57550"/>
            <a:ext cx="5219700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67475" y="1543050"/>
            <a:ext cx="2609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Multi-Agent &amp; Platform Integration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2114550"/>
            <a:ext cx="5219700" cy="3238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2495550"/>
            <a:ext cx="5219700" cy="3238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2876550"/>
            <a:ext cx="5219700" cy="3238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3257550"/>
            <a:ext cx="5219700" cy="3238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6750" y="2200275"/>
            <a:ext cx="1933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E2E8F0"/>
                </a:solidFill>
                <a:latin typeface="Inter"/>
              </a:rPr>
              <a:t>Denver, CO (Mountain / Snow Zone)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2550" y="2200275"/>
            <a:ext cx="552450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Passed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" y="2581275"/>
            <a:ext cx="2190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E2E8F0"/>
                </a:solidFill>
                <a:latin typeface="Inter"/>
              </a:rPr>
              <a:t>Miami, FL (Subtropical / Hurricane Zone)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2550" y="2581275"/>
            <a:ext cx="552450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Passed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50" y="2962275"/>
            <a:ext cx="1828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E2E8F0"/>
                </a:solidFill>
                <a:latin typeface="Inter"/>
              </a:rPr>
              <a:t>Chicago, IL (Midwest / Lake Wind)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2550" y="2962275"/>
            <a:ext cx="552450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Passed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3343275"/>
            <a:ext cx="2066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E2E8F0"/>
                </a:solidFill>
                <a:latin typeface="Inter"/>
              </a:rPr>
              <a:t>Paris, France (Non-US Boundary Test)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3000" y="3343275"/>
            <a:ext cx="762000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Intercepted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0" y="2200275"/>
            <a:ext cx="1790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E2E8F0"/>
                </a:solidFill>
                <a:latin typeface="Inter"/>
              </a:rPr>
              <a:t>Route Navigation (Directions API)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3750" y="2200275"/>
            <a:ext cx="571500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Verified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0" y="2581275"/>
            <a:ext cx="150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E2E8F0"/>
                </a:solidFill>
                <a:latin typeface="Inter"/>
              </a:rPr>
              <a:t>ADK Search Grounding Tool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53750" y="2581275"/>
            <a:ext cx="571500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Verified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0" y="2962275"/>
            <a:ext cx="2695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E2E8F0"/>
                </a:solidFill>
                <a:latin typeface="Inter"/>
              </a:rPr>
              <a:t>Sequential Refinement (Search-&gt;Critique-&gt;Refine)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3750" y="2962275"/>
            <a:ext cx="571500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Verified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0" y="3343275"/>
            <a:ext cx="2124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E2E8F0"/>
                </a:solidFill>
                <a:latin typeface="Inter"/>
              </a:rPr>
              <a:t>Live Agent Platform Endpoint 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3343275"/>
            <a:ext cx="552450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200 OK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550" y="2219325"/>
            <a:ext cx="114300" cy="1143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550" y="2600325"/>
            <a:ext cx="114300" cy="1143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550" y="2981325"/>
            <a:ext cx="114300" cy="1143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0" y="3362325"/>
            <a:ext cx="114300" cy="1143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0" y="2219325"/>
            <a:ext cx="114300" cy="1143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0" y="2600325"/>
            <a:ext cx="114300" cy="1143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0" y="2981325"/>
            <a:ext cx="114300" cy="1143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3362325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